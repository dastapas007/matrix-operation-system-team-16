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pas Das" userId="d044a4362dbb86ef" providerId="LiveId" clId="{2459DE70-073E-4335-85F2-2AA406D0789D}"/>
    <pc:docChg chg="undo custSel addSld delSld modSld">
      <pc:chgData name="Tapas Das" userId="d044a4362dbb86ef" providerId="LiveId" clId="{2459DE70-073E-4335-85F2-2AA406D0789D}" dt="2026-08-24T16:39:27.464" v="80" actId="403"/>
      <pc:docMkLst>
        <pc:docMk/>
      </pc:docMkLst>
      <pc:sldChg chg="modSp mod">
        <pc:chgData name="Tapas Das" userId="d044a4362dbb86ef" providerId="LiveId" clId="{2459DE70-073E-4335-85F2-2AA406D0789D}" dt="2026-08-24T16:37:28.979" v="65" actId="1036"/>
        <pc:sldMkLst>
          <pc:docMk/>
          <pc:sldMk cId="0" sldId="256"/>
        </pc:sldMkLst>
        <pc:picChg chg="mod">
          <ac:chgData name="Tapas Das" userId="d044a4362dbb86ef" providerId="LiveId" clId="{2459DE70-073E-4335-85F2-2AA406D0789D}" dt="2026-08-24T16:37:28.979" v="65" actId="1036"/>
          <ac:picMkLst>
            <pc:docMk/>
            <pc:sldMk cId="0" sldId="256"/>
            <ac:picMk id="2" creationId="{00000000-0000-0000-0000-000000000000}"/>
          </ac:picMkLst>
        </pc:picChg>
      </pc:sldChg>
      <pc:sldChg chg="addSp modSp mod">
        <pc:chgData name="Tapas Das" userId="d044a4362dbb86ef" providerId="LiveId" clId="{2459DE70-073E-4335-85F2-2AA406D0789D}" dt="2026-08-24T16:30:43.346" v="44" actId="20577"/>
        <pc:sldMkLst>
          <pc:docMk/>
          <pc:sldMk cId="0" sldId="257"/>
        </pc:sldMkLst>
        <pc:spChg chg="add mod">
          <ac:chgData name="Tapas Das" userId="d044a4362dbb86ef" providerId="LiveId" clId="{2459DE70-073E-4335-85F2-2AA406D0789D}" dt="2026-08-24T16:30:43.346" v="44" actId="20577"/>
          <ac:spMkLst>
            <pc:docMk/>
            <pc:sldMk cId="0" sldId="257"/>
            <ac:spMk id="16" creationId="{AB545521-2836-184B-5649-EF83EA4FE3D2}"/>
          </ac:spMkLst>
        </pc:spChg>
      </pc:sldChg>
      <pc:sldChg chg="modSp mod">
        <pc:chgData name="Tapas Das" userId="d044a4362dbb86ef" providerId="LiveId" clId="{2459DE70-073E-4335-85F2-2AA406D0789D}" dt="2026-08-24T16:31:41.993" v="56" actId="255"/>
        <pc:sldMkLst>
          <pc:docMk/>
          <pc:sldMk cId="0" sldId="258"/>
        </pc:sldMkLst>
        <pc:spChg chg="mod">
          <ac:chgData name="Tapas Das" userId="d044a4362dbb86ef" providerId="LiveId" clId="{2459DE70-073E-4335-85F2-2AA406D0789D}" dt="2026-08-24T16:31:35.047" v="55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Tapas Das" userId="d044a4362dbb86ef" providerId="LiveId" clId="{2459DE70-073E-4335-85F2-2AA406D0789D}" dt="2026-08-24T16:31:41.993" v="56" actId="255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Tapas Das" userId="d044a4362dbb86ef" providerId="LiveId" clId="{2459DE70-073E-4335-85F2-2AA406D0789D}" dt="2026-08-24T16:32:29.643" v="63" actId="1076"/>
        <pc:sldMkLst>
          <pc:docMk/>
          <pc:sldMk cId="0" sldId="267"/>
        </pc:sldMkLst>
        <pc:spChg chg="mod">
          <ac:chgData name="Tapas Das" userId="d044a4362dbb86ef" providerId="LiveId" clId="{2459DE70-073E-4335-85F2-2AA406D0789D}" dt="2026-08-24T16:32:24.092" v="62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Tapas Das" userId="d044a4362dbb86ef" providerId="LiveId" clId="{2459DE70-073E-4335-85F2-2AA406D0789D}" dt="2026-08-24T16:32:29.643" v="63" actId="1076"/>
          <ac:spMkLst>
            <pc:docMk/>
            <pc:sldMk cId="0" sldId="267"/>
            <ac:spMk id="6" creationId="{00000000-0000-0000-0000-000000000000}"/>
          </ac:spMkLst>
        </pc:spChg>
      </pc:sldChg>
      <pc:sldChg chg="addSp modSp new mod setBg">
        <pc:chgData name="Tapas Das" userId="d044a4362dbb86ef" providerId="LiveId" clId="{2459DE70-073E-4335-85F2-2AA406D0789D}" dt="2026-08-24T16:39:27.464" v="80" actId="403"/>
        <pc:sldMkLst>
          <pc:docMk/>
          <pc:sldMk cId="980179175" sldId="268"/>
        </pc:sldMkLst>
        <pc:spChg chg="add mod">
          <ac:chgData name="Tapas Das" userId="d044a4362dbb86ef" providerId="LiveId" clId="{2459DE70-073E-4335-85F2-2AA406D0789D}" dt="2026-08-24T16:39:27.464" v="80" actId="403"/>
          <ac:spMkLst>
            <pc:docMk/>
            <pc:sldMk cId="980179175" sldId="268"/>
            <ac:spMk id="5" creationId="{8A5E0200-236A-E603-43DD-8F0A3C6F96F8}"/>
          </ac:spMkLst>
        </pc:spChg>
        <pc:spChg chg="add">
          <ac:chgData name="Tapas Das" userId="d044a4362dbb86ef" providerId="LiveId" clId="{2459DE70-073E-4335-85F2-2AA406D0789D}" dt="2026-08-24T16:39:10.114" v="70" actId="26606"/>
          <ac:spMkLst>
            <pc:docMk/>
            <pc:sldMk cId="980179175" sldId="268"/>
            <ac:spMk id="8" creationId="{42A4FC2C-047E-45A5-965D-8E1E3BF09BC6}"/>
          </ac:spMkLst>
        </pc:spChg>
        <pc:picChg chg="add mod">
          <ac:chgData name="Tapas Das" userId="d044a4362dbb86ef" providerId="LiveId" clId="{2459DE70-073E-4335-85F2-2AA406D0789D}" dt="2026-08-24T16:39:10.114" v="70" actId="26606"/>
          <ac:picMkLst>
            <pc:docMk/>
            <pc:sldMk cId="980179175" sldId="268"/>
            <ac:picMk id="3" creationId="{8022E4DF-2F64-E491-3714-8D404C1606E7}"/>
          </ac:picMkLst>
        </pc:picChg>
      </pc:sldChg>
      <pc:sldChg chg="new del">
        <pc:chgData name="Tapas Das" userId="d044a4362dbb86ef" providerId="LiveId" clId="{2459DE70-073E-4335-85F2-2AA406D0789D}" dt="2026-08-24T16:38:39.381" v="67" actId="680"/>
        <pc:sldMkLst>
          <pc:docMk/>
          <pc:sldMk cId="1171003955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E3523-7DA0-44FF-A89E-74E9241A85F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A782A-2E83-4C70-92F8-09497DAA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8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A782A-2E83-4C70-92F8-09497DAAC4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7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64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234440"/>
            <a:ext cx="103327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08760" y="1399032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83458"/>
                </a:solidFill>
                <a:latin typeface="Aptos Display"/>
              </a:defRPr>
            </a:pPr>
            <a:r>
              <a:rPr dirty="0"/>
              <a:t>MATRIX OPERATION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6596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068AA"/>
                </a:solidFill>
                <a:latin typeface="Aptos"/>
              </a:defRPr>
            </a:pPr>
            <a:r>
              <a:t>Object-Oriented Programming through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4445" y="2359152"/>
            <a:ext cx="187262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97380"/>
                </a:solidFill>
                <a:latin typeface="Aptos"/>
              </a:defRPr>
            </a:pPr>
            <a:r>
              <a:rPr dirty="0"/>
              <a:t>PBL PROJECT • REVIEW –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508760" y="27432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090672"/>
            <a:ext cx="498348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rPr dirty="0"/>
              <a:t>Sourav Dev  •  25B11AI322  •  AIML</a:t>
            </a:r>
          </a:p>
          <a:p>
            <a:pPr>
              <a:spcAft>
                <a:spcPts val="7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rPr dirty="0"/>
              <a:t>Sushmita Roy  •  25B11AIB54  •  AIML</a:t>
            </a:r>
          </a:p>
          <a:p>
            <a:pPr>
              <a:spcAft>
                <a:spcPts val="7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rPr dirty="0"/>
              <a:t>Tapas Das  •  25B11AIB77  •  AIML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743200"/>
            <a:ext cx="22860" cy="205740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t>PROJECT INSTRUCTOR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127248"/>
            <a:ext cx="3931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3458"/>
                </a:solidFill>
                <a:latin typeface="Aptos"/>
              </a:defRPr>
            </a:pPr>
            <a:r>
              <a:rPr dirty="0"/>
              <a:t>N. AKHILA </a:t>
            </a:r>
            <a:r>
              <a:rPr dirty="0" err="1"/>
              <a:t>M.Tech</a:t>
            </a:r>
            <a:r>
              <a:rPr dirty="0"/>
              <a:t> (</a:t>
            </a:r>
            <a:r>
              <a:rPr dirty="0" err="1"/>
              <a:t>Ph.D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350" b="0">
                <a:solidFill>
                  <a:srgbClr val="232A32"/>
                </a:solidFill>
                <a:latin typeface="Aptos"/>
              </a:defRPr>
            </a:pPr>
            <a:r>
              <a:rPr dirty="0"/>
              <a:t>Assistant Professor</a:t>
            </a:r>
          </a:p>
          <a:p>
            <a:pPr>
              <a:spcAft>
                <a:spcPts val="800"/>
              </a:spcAft>
              <a:defRPr sz="1350" b="1">
                <a:solidFill>
                  <a:srgbClr val="3068AA"/>
                </a:solidFill>
                <a:latin typeface="Aptos"/>
              </a:defRPr>
            </a:pPr>
            <a:r>
              <a:rPr dirty="0"/>
              <a:t>AIML 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16636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7380"/>
                </a:solidFill>
                <a:latin typeface="Aptos"/>
              </a:defRPr>
            </a:pPr>
            <a:r>
              <a:t>Aditya University  |  AIML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1085874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74722" y="347472"/>
            <a:ext cx="17572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717" y="6473952"/>
            <a:ext cx="54248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27252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 Project 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2405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 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48951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3.  Problem Statement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31438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4.  Users of 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34840"/>
            <a:ext cx="38843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5.  Modules / Functionalities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25880"/>
            <a:ext cx="34538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6.  Architecture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03120"/>
            <a:ext cx="22365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7.  ER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80360"/>
            <a:ext cx="47885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8.  Planning and Timeline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657600"/>
            <a:ext cx="36904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Role of Each Individual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45521-2836-184B-5649-EF83EA4FE3D2}"/>
              </a:ext>
            </a:extLst>
          </p:cNvPr>
          <p:cNvSpPr txBox="1"/>
          <p:nvPr/>
        </p:nvSpPr>
        <p:spPr>
          <a:xfrm>
            <a:off x="6096000" y="44348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Expected Outcome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36199" y="347472"/>
            <a:ext cx="243425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114300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C++ based Matrix Operation System that allows users to enter matrices and perform standard matrix calculations through a structured menu-driven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1143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512064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5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Matrix input and validation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Addition and subtraction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Matrix multiplication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Transpose, determinant and inverse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64008" cy="23317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2743200"/>
            <a:ext cx="521208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/ OOP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5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Matrix class and reusable methods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Encapsulation and modular design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Function-based operation handling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Validation and error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743200"/>
            <a:ext cx="64008" cy="23317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90244" y="347472"/>
            <a:ext cx="19261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10467"/>
            <a:ext cx="10515600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Matrices are widely used in mathematics, computer science, engineering, graphics and artificial intelligence.</a:t>
            </a:r>
          </a:p>
          <a:p>
            <a:pPr algn="just">
              <a:spcAft>
                <a:spcPts val="11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matrix calculations become lengthy and difficult to verify as matrix size increases.</a:t>
            </a:r>
          </a:p>
          <a:p>
            <a:pPr>
              <a:spcAft>
                <a:spcPts val="11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C++ application provides one organized interface for entering matrices and selecting operations.</a:t>
            </a:r>
          </a:p>
          <a:p>
            <a:pPr>
              <a:spcAft>
                <a:spcPts val="11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design emphasizes accuracy, validation, modular programming and object-oriented principles.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29393" y="347472"/>
            <a:ext cx="470096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43891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5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matrix calculations are repetitive and may cause errors. Users need a simple C++ system that checks valid dimensions and performs multiple operations efficiently.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43891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common matrix operations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dimensions before calculation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manual effort and errors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OOP concepts in C++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results clearly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Keep modules reusable and extendable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43891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7128" y="347472"/>
            <a:ext cx="291240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Users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342900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Practice matrix concepts, solve assignments and verify programming outputs.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3429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42900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Faculty / Teachers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Demonstrate matrix operations and verify classroom or laboratory examples.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342900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342900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Developers / Learners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Learn C++ classes, matrix algorithms, validation and modular OOP 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17320"/>
            <a:ext cx="64008" cy="3429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32124" y="347472"/>
            <a:ext cx="364240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/ Functionalities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 Class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Stores rows, columns and elements.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64008" cy="16459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129844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Input &amp; Validation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Accepts input and checks valid dimensions.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298448"/>
            <a:ext cx="64008" cy="16459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0" y="129844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Addition and subtraction for compatible matrices.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298448"/>
            <a:ext cx="64008" cy="16459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344728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Multiplies matrices when A.columns = B.rows.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47288"/>
            <a:ext cx="64008" cy="16459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0560" y="344728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Advanced Operations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Transpose, determinant and inverse.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447288"/>
            <a:ext cx="64008" cy="16459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75320" y="344728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Menu / Result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Selects operation and displays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447288"/>
            <a:ext cx="64008" cy="16459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47119" y="347472"/>
            <a:ext cx="321241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98448"/>
            <a:ext cx="10332720" cy="1024128"/>
          </a:xfrm>
          <a:prstGeom prst="roundRect">
            <a:avLst/>
          </a:prstGeom>
          <a:solidFill>
            <a:srgbClr val="EFF6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algn="ctr">
              <a:defRPr sz="1400" b="1">
                <a:solidFill>
                  <a:srgbClr val="3068A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Console / Menu-driven User Interface</a:t>
            </a:r>
          </a:p>
          <a:p>
            <a:pPr algn="ctr"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Input Matrix  •  Select Operation  •  Display Result</a:t>
            </a:r>
          </a:p>
        </p:txBody>
      </p:sp>
      <p:sp>
        <p:nvSpPr>
          <p:cNvPr id="7" name="Down Arrow 6"/>
          <p:cNvSpPr/>
          <p:nvPr/>
        </p:nvSpPr>
        <p:spPr>
          <a:xfrm>
            <a:off x="5577840" y="2359152"/>
            <a:ext cx="914400" cy="310896"/>
          </a:xfrm>
          <a:prstGeom prst="downArrow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10332720" cy="1024128"/>
          </a:xfrm>
          <a:prstGeom prst="roundRect">
            <a:avLst/>
          </a:prstGeom>
          <a:solidFill>
            <a:srgbClr val="EFF6FD"/>
          </a:solidFill>
          <a:ln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</a:t>
            </a:r>
          </a:p>
          <a:p>
            <a:pPr algn="ctr">
              <a:defRPr sz="1400" b="1">
                <a:solidFill>
                  <a:srgbClr val="3068A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 Manager  |  Operation Manager  |  Validation Manager</a:t>
            </a:r>
          </a:p>
          <a:p>
            <a:pPr algn="ctr"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Controls operations, dimension checks and program flow</a:t>
            </a:r>
          </a:p>
        </p:txBody>
      </p:sp>
      <p:sp>
        <p:nvSpPr>
          <p:cNvPr id="9" name="Down Arrow 8"/>
          <p:cNvSpPr/>
          <p:nvPr/>
        </p:nvSpPr>
        <p:spPr>
          <a:xfrm>
            <a:off x="5577840" y="3803904"/>
            <a:ext cx="914400" cy="310896"/>
          </a:xfrm>
          <a:prstGeom prst="downArrow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4187952"/>
            <a:ext cx="10332720" cy="1024128"/>
          </a:xfrm>
          <a:prstGeom prst="roundRect">
            <a:avLst/>
          </a:prstGeom>
          <a:solidFill>
            <a:srgbClr val="EFF6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/ OBJECT LAYER</a:t>
            </a:r>
          </a:p>
          <a:p>
            <a:pPr algn="ctr">
              <a:defRPr sz="1400" b="1">
                <a:solidFill>
                  <a:srgbClr val="3068A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 Objects  |  2D Arrays / Vectors  |  Result Data</a:t>
            </a:r>
          </a:p>
          <a:p>
            <a:pPr algn="ctr"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Stores matrix elements, dimensions and calculated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2094" y="5486400"/>
            <a:ext cx="9669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Top → Bottom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92969" y="347472"/>
            <a:ext cx="19207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1828800" cy="777240"/>
          </a:xfrm>
          <a:prstGeom prst="rect">
            <a:avLst/>
          </a:prstGeom>
          <a:solidFill>
            <a:srgbClr val="EFF6FD"/>
          </a:solidFill>
          <a:ln w="25400"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7" name="Diamond 6"/>
          <p:cNvSpPr/>
          <p:nvPr/>
        </p:nvSpPr>
        <p:spPr>
          <a:xfrm>
            <a:off x="3063240" y="2084831"/>
            <a:ext cx="1463040" cy="9144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CREATES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2148840"/>
            <a:ext cx="1965960" cy="777240"/>
          </a:xfrm>
          <a:prstGeom prst="rect">
            <a:avLst/>
          </a:prstGeom>
          <a:solidFill>
            <a:srgbClr val="EFF6FD"/>
          </a:solidFill>
          <a:ln w="25400"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</a:p>
        </p:txBody>
      </p:sp>
      <p:sp>
        <p:nvSpPr>
          <p:cNvPr id="9" name="Diamond 8"/>
          <p:cNvSpPr/>
          <p:nvPr/>
        </p:nvSpPr>
        <p:spPr>
          <a:xfrm>
            <a:off x="7818120" y="2084831"/>
            <a:ext cx="1463040" cy="9144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1240" y="2148840"/>
            <a:ext cx="1600200" cy="777240"/>
          </a:xfrm>
          <a:prstGeom prst="rect">
            <a:avLst/>
          </a:prstGeom>
          <a:solidFill>
            <a:srgbClr val="EFF6FD"/>
          </a:solidFill>
          <a:ln w="25400"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542032"/>
            <a:ext cx="548640" cy="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80" y="2542032"/>
            <a:ext cx="640080" cy="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320" y="2542032"/>
            <a:ext cx="685800" cy="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2542032"/>
            <a:ext cx="640080" cy="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15601" y="2852928"/>
            <a:ext cx="2551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5259" y="2852928"/>
            <a:ext cx="2872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9041" y="2852928"/>
            <a:ext cx="2551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3563" y="2852928"/>
            <a:ext cx="2872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703320"/>
            <a:ext cx="132588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6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</a:p>
        </p:txBody>
      </p:sp>
      <p:sp>
        <p:nvSpPr>
          <p:cNvPr id="20" name="Oval 19"/>
          <p:cNvSpPr/>
          <p:nvPr/>
        </p:nvSpPr>
        <p:spPr>
          <a:xfrm>
            <a:off x="1783080" y="4251960"/>
            <a:ext cx="11430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9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143000" y="2926080"/>
            <a:ext cx="457200" cy="77724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83080" y="2926080"/>
            <a:ext cx="548640" cy="132588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572000" y="3703320"/>
            <a:ext cx="141732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6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matrix_id</a:t>
            </a:r>
          </a:p>
        </p:txBody>
      </p:sp>
      <p:sp>
        <p:nvSpPr>
          <p:cNvPr id="24" name="Oval 23"/>
          <p:cNvSpPr/>
          <p:nvPr/>
        </p:nvSpPr>
        <p:spPr>
          <a:xfrm>
            <a:off x="6080760" y="4251960"/>
            <a:ext cx="109728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9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703320"/>
            <a:ext cx="123444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9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257800" y="2926080"/>
            <a:ext cx="411480" cy="77724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72200" y="2926080"/>
            <a:ext cx="457200" cy="132588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37960" y="2926080"/>
            <a:ext cx="640080" cy="77724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646920" y="3703320"/>
            <a:ext cx="141732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6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operation_id</a:t>
            </a:r>
          </a:p>
        </p:txBody>
      </p:sp>
      <p:sp>
        <p:nvSpPr>
          <p:cNvPr id="30" name="Oval 29"/>
          <p:cNvSpPr/>
          <p:nvPr/>
        </p:nvSpPr>
        <p:spPr>
          <a:xfrm>
            <a:off x="10058400" y="4251960"/>
            <a:ext cx="11430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9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0332720" y="2926080"/>
            <a:ext cx="182880" cy="77724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607040" y="2926080"/>
            <a:ext cx="91440" cy="132588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83359" y="5166360"/>
            <a:ext cx="55948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 → creates MATRIX → processed by OPERATION →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61033" y="347472"/>
            <a:ext cx="458458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Timeline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9564" y="6473952"/>
            <a:ext cx="443903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8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4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0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3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6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1503938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691640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31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74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60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03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46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2404872"/>
            <a:ext cx="2374368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(Class/ER Diagrams)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1920" y="2404872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74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17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60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03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46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3118104"/>
            <a:ext cx="2101857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31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74920" y="3118104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17920" y="3118104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360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03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46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3831335"/>
            <a:ext cx="1468672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931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4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17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60920" y="3831335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03920" y="3831335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646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4544568"/>
            <a:ext cx="2077813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88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931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074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17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360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503920" y="4544568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646920" y="4544568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25693" y="5486400"/>
            <a:ext cx="61101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 →  Design  →  Coding  →  Testing  → 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34749" y="347472"/>
            <a:ext cx="343715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Role of Each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9564" y="6473952"/>
            <a:ext cx="443903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515600" cy="713232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Sourav Dev</a:t>
            </a:r>
          </a:p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 class design, constructors and input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64008" cy="713232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515600" cy="713232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Sushmita Roy</a:t>
            </a:r>
          </a:p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Addition, subtraction and multiplication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64008" cy="713232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0515600" cy="713232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Tapas Das</a:t>
            </a:r>
          </a:p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Determinant, inverse, validation, testing and debugging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64008" cy="713232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4206240"/>
            <a:ext cx="10515600" cy="713232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Niloy Mallick</a:t>
            </a:r>
          </a:p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UI/menu design, diagrams, documentation and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64008" cy="713232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54483" y="347472"/>
            <a:ext cx="279768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9564" y="6473952"/>
            <a:ext cx="443903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9213" y="1970775"/>
            <a:ext cx="7161914" cy="273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functional C++ Matrix Operation System with a clear menu-driven interface.</a:t>
            </a:r>
          </a:p>
          <a:p>
            <a:pPr algn="just">
              <a:spcAft>
                <a:spcPts val="11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results for supported matrix operations with proper dimension validation.</a:t>
            </a:r>
          </a:p>
          <a:p>
            <a:pPr>
              <a:spcAft>
                <a:spcPts val="11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 modular code demonstrating object-oriented programming concepts.</a:t>
            </a:r>
          </a:p>
          <a:p>
            <a:pPr>
              <a:spcAft>
                <a:spcPts val="11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can later be extended with GUI support, file storage and additional matrix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3031" y="5212080"/>
            <a:ext cx="23754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3458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0344BB-8410-73FD-D845-ECF55D2E4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59" y="1150654"/>
            <a:ext cx="2745141" cy="50870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1000049043.jpg">
            <a:extLst>
              <a:ext uri="{FF2B5EF4-FFF2-40B4-BE49-F238E27FC236}">
                <a16:creationId xmlns:a16="http://schemas.microsoft.com/office/drawing/2014/main" id="{8022E4DF-2F64-E491-3714-8D404C16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5E0200-236A-E603-43DD-8F0A3C6F96F8}"/>
              </a:ext>
            </a:extLst>
          </p:cNvPr>
          <p:cNvSpPr txBox="1"/>
          <p:nvPr/>
        </p:nvSpPr>
        <p:spPr>
          <a:xfrm>
            <a:off x="3007360" y="2923550"/>
            <a:ext cx="6177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3458"/>
                </a:solidFill>
                <a:latin typeface="Aptos Display"/>
              </a:defRPr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8017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834</Words>
  <Application>Microsoft Office PowerPoint</Application>
  <PresentationFormat>Widescreen</PresentationFormat>
  <Paragraphs>135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Tapas Das</cp:lastModifiedBy>
  <cp:revision>5</cp:revision>
  <dcterms:created xsi:type="dcterms:W3CDTF">2013-01-27T09:14:16Z</dcterms:created>
  <dcterms:modified xsi:type="dcterms:W3CDTF">2026-10-25T15:34:54Z</dcterms:modified>
  <cp:category/>
</cp:coreProperties>
</file>